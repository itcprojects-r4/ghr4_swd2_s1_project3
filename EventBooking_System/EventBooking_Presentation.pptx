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committee and briefly introduce the team.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agenda quickly.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what EventBooking is. It's a MERN app targeting both users and organizers.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Contrast the old manual problems with what EventBooking provides.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MERN stack and additional libraries briefly.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frontend-to-backend data flow and JWT token lifecycle.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each model and how they relate. Users create Bookings → Bookings produce Tickets.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end-to-end user journey step by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two main roles and what each can do in the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how the QR code is embedded in the PDF and how organizers scan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Quickly highlight the 10 core features of the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project folder organization and the separation of concerns.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Briefly explain each challenge and how you resolved it. Show problem-solving capability.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about what you would add next if the project continued.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Switch to browser or video recording of the running application.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thanks and invite the committee to ask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D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371600"/>
            <a:ext cx="5029200" cy="5029200"/>
          </a:xfrm>
          <a:prstGeom prst="ellipse">
            <a:avLst/>
          </a:prstGeom>
          <a:solidFill>
            <a:srgbClr val="1565C0">
              <a:alpha val="25000"/>
            </a:srgbClr>
          </a:solidFill>
          <a:ln w="12700">
            <a:solidFill>
              <a:srgbClr val="1565C0">
                <a:alpha val="2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200400"/>
            <a:ext cx="3200400" cy="3200400"/>
          </a:xfrm>
          <a:prstGeom prst="ellipse">
            <a:avLst/>
          </a:prstGeom>
          <a:solidFill>
            <a:srgbClr val="42A5F5">
              <a:alpha val="20000"/>
            </a:srgbClr>
          </a:solidFill>
          <a:ln w="12700">
            <a:solidFill>
              <a:srgbClr val="42A5F5">
                <a:alpha val="2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502920"/>
            <a:ext cx="777240" cy="777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417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EventBooking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457200" y="22860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Management &amp; Ticket Booking System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457200" y="2971800"/>
            <a:ext cx="4114800" cy="36576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3154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— Final Year Project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7200" y="3657600"/>
            <a:ext cx="4023360" cy="347472"/>
          </a:xfrm>
          <a:prstGeom prst="roundRect">
            <a:avLst>
              <a:gd name="adj" fmla="val 13158"/>
            </a:avLst>
          </a:prstGeom>
          <a:solidFill>
            <a:srgbClr val="1565C0">
              <a:alpha val="60000"/>
            </a:srgbClr>
          </a:solidFill>
          <a:ln w="12700">
            <a:solidFill>
              <a:srgbClr val="42A5F5">
                <a:alpha val="40000"/>
              </a:srgbClr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48640" y="36850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Ammar Said Ahmed Elshafey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63440" y="3657600"/>
            <a:ext cx="4023360" cy="347472"/>
          </a:xfrm>
          <a:prstGeom prst="roundRect">
            <a:avLst>
              <a:gd name="adj" fmla="val 13158"/>
            </a:avLst>
          </a:prstGeom>
          <a:solidFill>
            <a:srgbClr val="1565C0">
              <a:alpha val="60000"/>
            </a:srgbClr>
          </a:solidFill>
          <a:ln w="12700">
            <a:solidFill>
              <a:srgbClr val="42A5F5">
                <a:alpha val="4000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54880" y="36850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Mostafa Mohammed Ahmed Mostafa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4069080"/>
            <a:ext cx="4023360" cy="347472"/>
          </a:xfrm>
          <a:prstGeom prst="roundRect">
            <a:avLst>
              <a:gd name="adj" fmla="val 13158"/>
            </a:avLst>
          </a:prstGeom>
          <a:solidFill>
            <a:srgbClr val="1565C0">
              <a:alpha val="60000"/>
            </a:srgbClr>
          </a:solidFill>
          <a:ln w="12700">
            <a:solidFill>
              <a:srgbClr val="42A5F5">
                <a:alpha val="40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8640" y="409651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Nouran Hassan Abdelfatah Elseibaey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663440" y="4069080"/>
            <a:ext cx="4023360" cy="347472"/>
          </a:xfrm>
          <a:prstGeom prst="roundRect">
            <a:avLst>
              <a:gd name="adj" fmla="val 13158"/>
            </a:avLst>
          </a:prstGeom>
          <a:solidFill>
            <a:srgbClr val="1565C0">
              <a:alpha val="60000"/>
            </a:srgbClr>
          </a:solidFill>
          <a:ln w="12700">
            <a:solidFill>
              <a:srgbClr val="42A5F5">
                <a:alpha val="4000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54880" y="409651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Malak Tamer Ahmed Elsheikh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D5A"/>
          </a:solidFill>
          <a:ln w="12700">
            <a:solidFill>
              <a:srgbClr val="0D2D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03327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Project Overview &amp; Objectives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709928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7830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Problem Statement &amp; Proposed Solution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459736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253288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Technologies &amp; System Architecture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209544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94360" y="328269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Database Design &amp; Workflow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959352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94360" y="403250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Modules: User &amp; Organizer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960120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92040" y="103327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QR Code Ticket System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1709928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17830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Features &amp; Folder Structure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2459736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92040" y="2532888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Challenges &amp; Future Improvements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3209544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92040" y="3282696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Live Demo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54880" y="3959352"/>
            <a:ext cx="41148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92040" y="4032504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Conclusion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D5A"/>
          </a:solidFill>
          <a:ln w="12700">
            <a:solidFill>
              <a:srgbClr val="0D2D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4846320" cy="3566160"/>
          </a:xfrm>
          <a:prstGeom prst="roundRect">
            <a:avLst>
              <a:gd name="adj" fmla="val 3077"/>
            </a:avLst>
          </a:prstGeom>
          <a:solidFill>
            <a:srgbClr val="F4F8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94360" y="114300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EventBooking?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94360" y="1645920"/>
            <a:ext cx="4389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MERN web application that simplifies event management and ticket booking for both attendees and organizers.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discover events, reserve tickets, and download QR-based digital tickets.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Organizers can create, manage, and monitor events — and verify attendees instantly via QR scanning.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394960" y="1005840"/>
            <a:ext cx="3383280" cy="1005840"/>
          </a:xfrm>
          <a:prstGeom prst="roundRect">
            <a:avLst>
              <a:gd name="adj" fmla="val 9091"/>
            </a:avLst>
          </a:prstGeom>
          <a:solidFill>
            <a:srgbClr val="F4F8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1252728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144768" y="111556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Attendees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144768" y="146304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&amp; book events easily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394960" y="2194560"/>
            <a:ext cx="3383280" cy="1005840"/>
          </a:xfrm>
          <a:prstGeom prst="roundRect">
            <a:avLst>
              <a:gd name="adj" fmla="val 9091"/>
            </a:avLst>
          </a:prstGeom>
          <a:solidFill>
            <a:srgbClr val="F4F8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2441448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144768" y="23042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Organizers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144768" y="26517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dashboard &amp; QR verification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394960" y="3383280"/>
            <a:ext cx="3383280" cy="1005840"/>
          </a:xfrm>
          <a:prstGeom prst="roundRect">
            <a:avLst>
              <a:gd name="adj" fmla="val 9091"/>
            </a:avLst>
          </a:prstGeom>
          <a:solidFill>
            <a:srgbClr val="F4F8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3630168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44768" y="349300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Tickets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144768" y="38404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+ QR Code based tickets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2D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3931920" cy="594360"/>
          </a:xfrm>
          <a:prstGeom prst="roundRect">
            <a:avLst>
              <a:gd name="adj" fmla="val 15385"/>
            </a:avLst>
          </a:prstGeom>
          <a:solidFill>
            <a:srgbClr val="1565C0">
              <a:alpha val="70000"/>
            </a:srgbClr>
          </a:solidFill>
          <a:ln w="12700">
            <a:solidFill>
              <a:srgbClr val="42A5F5">
                <a:alpha val="5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02412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Manual registration is slow and error-prone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709928"/>
            <a:ext cx="3931920" cy="594360"/>
          </a:xfrm>
          <a:prstGeom prst="roundRect">
            <a:avLst>
              <a:gd name="adj" fmla="val 15385"/>
            </a:avLst>
          </a:prstGeom>
          <a:solidFill>
            <a:srgbClr val="1565C0">
              <a:alpha val="70000"/>
            </a:srgbClr>
          </a:solidFill>
          <a:ln w="12700">
            <a:solidFill>
              <a:srgbClr val="42A5F5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773936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No easy way to track attendees in real time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459736"/>
            <a:ext cx="3931920" cy="594360"/>
          </a:xfrm>
          <a:prstGeom prst="roundRect">
            <a:avLst>
              <a:gd name="adj" fmla="val 15385"/>
            </a:avLst>
          </a:prstGeom>
          <a:solidFill>
            <a:srgbClr val="1565C0">
              <a:alpha val="70000"/>
            </a:srgbClr>
          </a:solidFill>
          <a:ln w="12700">
            <a:solidFill>
              <a:srgbClr val="42A5F5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523744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Paper tickets can be lost or forged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3209544"/>
            <a:ext cx="3931920" cy="594360"/>
          </a:xfrm>
          <a:prstGeom prst="roundRect">
            <a:avLst>
              <a:gd name="adj" fmla="val 15385"/>
            </a:avLst>
          </a:prstGeom>
          <a:solidFill>
            <a:srgbClr val="1565C0">
              <a:alpha val="70000"/>
            </a:srgbClr>
          </a:solidFill>
          <a:ln w="12700">
            <a:solidFill>
              <a:srgbClr val="42A5F5">
                <a:alpha val="5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7355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Organizers lack a centralized management tool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34840" y="2103120"/>
            <a:ext cx="0" cy="1097280"/>
          </a:xfrm>
          <a:prstGeom prst="line">
            <a:avLst/>
          </a:prstGeom>
          <a:noFill/>
          <a:ln w="25400">
            <a:solidFill>
              <a:srgbClr val="42A5F5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4251960" y="26060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4846320" y="960120"/>
            <a:ext cx="3931920" cy="594360"/>
          </a:xfrm>
          <a:prstGeom prst="roundRect">
            <a:avLst>
              <a:gd name="adj" fmla="val 15385"/>
            </a:avLst>
          </a:prstGeom>
          <a:solidFill>
            <a:srgbClr val="42A5F5">
              <a:alpha val="80000"/>
            </a:srgbClr>
          </a:solidFill>
          <a:ln w="12700">
            <a:solidFill>
              <a:srgbClr val="42A5F5">
                <a:alpha val="7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0" y="1024128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Online event discovery &amp; booking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0" y="1709928"/>
            <a:ext cx="3931920" cy="594360"/>
          </a:xfrm>
          <a:prstGeom prst="roundRect">
            <a:avLst>
              <a:gd name="adj" fmla="val 15385"/>
            </a:avLst>
          </a:prstGeom>
          <a:solidFill>
            <a:srgbClr val="42A5F5">
              <a:alpha val="80000"/>
            </a:srgbClr>
          </a:solidFill>
          <a:ln w="12700">
            <a:solidFill>
              <a:srgbClr val="42A5F5">
                <a:alpha val="7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1773936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Real-time organizer dashboard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46320" y="2459736"/>
            <a:ext cx="3931920" cy="594360"/>
          </a:xfrm>
          <a:prstGeom prst="roundRect">
            <a:avLst>
              <a:gd name="adj" fmla="val 15385"/>
            </a:avLst>
          </a:prstGeom>
          <a:solidFill>
            <a:srgbClr val="42A5F5">
              <a:alpha val="80000"/>
            </a:srgbClr>
          </a:solidFill>
          <a:ln w="12700">
            <a:solidFill>
              <a:srgbClr val="42A5F5">
                <a:alpha val="7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2523744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QR-coded digital PDF tickets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3209544"/>
            <a:ext cx="3931920" cy="594360"/>
          </a:xfrm>
          <a:prstGeom prst="roundRect">
            <a:avLst>
              <a:gd name="adj" fmla="val 15385"/>
            </a:avLst>
          </a:prstGeom>
          <a:solidFill>
            <a:srgbClr val="42A5F5">
              <a:alpha val="80000"/>
            </a:srgbClr>
          </a:solidFill>
          <a:ln w="12700">
            <a:solidFill>
              <a:srgbClr val="42A5F5">
                <a:alpha val="7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0" y="3273552"/>
            <a:ext cx="3657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Complete CRUD event management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41605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41605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EventBooking Solution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D5A"/>
          </a:solidFill>
          <a:ln w="12700">
            <a:solidFill>
              <a:srgbClr val="0D2D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56032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18872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920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2240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291840" y="1005840"/>
            <a:ext cx="256032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1188720"/>
            <a:ext cx="640080" cy="640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383280" y="1920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383280" y="2240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6126480" y="1005840"/>
            <a:ext cx="256032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1188720"/>
            <a:ext cx="640080" cy="6400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217920" y="19202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217920" y="2240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457200" y="2926080"/>
            <a:ext cx="256032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3108960"/>
            <a:ext cx="640080" cy="6400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8640" y="3840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548640" y="4160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291840" y="2926080"/>
            <a:ext cx="256032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0" y="3108960"/>
            <a:ext cx="640080" cy="6400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383280" y="3840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</a:t>
            </a:r>
            <a:endParaRPr lang="en-US" sz="1300" dirty="0"/>
          </a:p>
        </p:txBody>
      </p:sp>
      <p:sp>
        <p:nvSpPr>
          <p:cNvPr id="23" name="Text 16"/>
          <p:cNvSpPr/>
          <p:nvPr/>
        </p:nvSpPr>
        <p:spPr>
          <a:xfrm>
            <a:off x="3383280" y="4160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6126480" y="2926080"/>
            <a:ext cx="256032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0880" y="3108960"/>
            <a:ext cx="640080" cy="640080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6217920" y="38404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QRCode</a:t>
            </a:r>
            <a:endParaRPr lang="en-US" sz="1300" dirty="0"/>
          </a:p>
        </p:txBody>
      </p:sp>
      <p:sp>
        <p:nvSpPr>
          <p:cNvPr id="27" name="Text 19"/>
          <p:cNvSpPr/>
          <p:nvPr/>
        </p:nvSpPr>
        <p:spPr>
          <a:xfrm>
            <a:off x="6217920" y="4160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</a:t>
            </a:r>
            <a:endParaRPr lang="en-US" sz="1000" dirty="0"/>
          </a:p>
        </p:txBody>
      </p:sp>
      <p:sp>
        <p:nvSpPr>
          <p:cNvPr id="28" name="Text 20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Puppeteer for PDF generation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D5A"/>
          </a:solidFill>
          <a:ln w="12700">
            <a:solidFill>
              <a:srgbClr val="0D2D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1920240" cy="1920240"/>
          </a:xfrm>
          <a:prstGeom prst="roundRect">
            <a:avLst>
              <a:gd name="adj" fmla="val 5714"/>
            </a:avLst>
          </a:prstGeom>
          <a:solidFill>
            <a:srgbClr val="F4F8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41732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Frontend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11480" y="2514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· CSS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304288" y="201168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2514600" y="1234440"/>
            <a:ext cx="1920240" cy="1920240"/>
          </a:xfrm>
          <a:prstGeom prst="roundRect">
            <a:avLst>
              <a:gd name="adj" fmla="val 5714"/>
            </a:avLst>
          </a:prstGeom>
          <a:solidFill>
            <a:srgbClr val="F4F8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8960" y="1417320"/>
            <a:ext cx="640080" cy="6400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560320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Layer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2560320" y="2514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/ JSON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453128" y="201168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4663440" y="1234440"/>
            <a:ext cx="1920240" cy="1920240"/>
          </a:xfrm>
          <a:prstGeom prst="roundRect">
            <a:avLst>
              <a:gd name="adj" fmla="val 5714"/>
            </a:avLst>
          </a:prstGeom>
          <a:solidFill>
            <a:srgbClr val="F4F8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1417320"/>
            <a:ext cx="640080" cy="6400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709160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Server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4709160" y="2514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· Middleware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6601968" y="2011680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4"/>
          <p:cNvSpPr/>
          <p:nvPr/>
        </p:nvSpPr>
        <p:spPr>
          <a:xfrm>
            <a:off x="6812280" y="1234440"/>
            <a:ext cx="1920240" cy="1920240"/>
          </a:xfrm>
          <a:prstGeom prst="roundRect">
            <a:avLst>
              <a:gd name="adj" fmla="val 5714"/>
            </a:avLst>
          </a:prstGeom>
          <a:solidFill>
            <a:srgbClr val="F4F8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0" y="1417320"/>
            <a:ext cx="640080" cy="6400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858000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Database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6858000" y="25146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Mongoose ODM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365760" y="3474720"/>
            <a:ext cx="8412480" cy="1234440"/>
          </a:xfrm>
          <a:prstGeom prst="roundRect">
            <a:avLst>
              <a:gd name="adj" fmla="val 8889"/>
            </a:avLst>
          </a:prstGeom>
          <a:solidFill>
            <a:srgbClr val="0D2D5A"/>
          </a:solidFill>
          <a:ln w="12700">
            <a:solidFill>
              <a:srgbClr val="42A5F5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657600"/>
            <a:ext cx="548640" cy="54864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325880" y="3520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 Flow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1325880" y="393192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→ Token Generated → Token Stored (client) → Token sent in headers → Server validates → Access granted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D5A"/>
          </a:solidFill>
          <a:ln w="12700">
            <a:solidFill>
              <a:srgbClr val="0D2D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0D2D5A"/>
          </a:solidFill>
          <a:ln w="12700">
            <a:solidFill>
              <a:srgbClr val="0D2D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9144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44475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_id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8288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2128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59689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298094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514600" y="91440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60320" y="9144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514600" y="1371600"/>
            <a:ext cx="1920240" cy="2395728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651760" y="144475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_id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651760" y="18288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51760" y="22128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51760" y="259689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51760" y="298094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651760" y="336499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organizer_id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91440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9144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663440" y="137160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800600" y="144475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_id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00600" y="18288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user_id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00600" y="22128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event_id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00600" y="259689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00600" y="298094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createdAt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812280" y="914400"/>
            <a:ext cx="1920240" cy="411480"/>
          </a:xfrm>
          <a:prstGeom prst="roundRect">
            <a:avLst>
              <a:gd name="adj" fmla="val 17778"/>
            </a:avLst>
          </a:prstGeom>
          <a:solidFill>
            <a:srgbClr val="01579B"/>
          </a:solidFill>
          <a:ln w="12700">
            <a:solidFill>
              <a:srgbClr val="01579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0" y="9144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812280" y="1371600"/>
            <a:ext cx="1920240" cy="20116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949440" y="144475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_id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949440" y="18288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booking_id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949440" y="22128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qrCode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949440" y="259689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pdfUrl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949440" y="298094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isUsed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286000" y="3703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references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434840" y="37033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references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65760" y="47091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· Mongoose ODM · Relational references via ObjectId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2D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Workflow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097280" cy="10972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42A5F5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36192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2801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365760" y="24688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/ Login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572768" y="170992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1874520" y="1280160"/>
            <a:ext cx="1097280" cy="10972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42A5F5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8840" y="1536192"/>
            <a:ext cx="548640" cy="5486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874520" y="12801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783080" y="24688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Events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2990088" y="170992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3291840" y="1280160"/>
            <a:ext cx="1097280" cy="10972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42A5F5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66160" y="1536192"/>
            <a:ext cx="548640" cy="54864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291840" y="12801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3200400" y="24688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Ticket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4407408" y="170992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3"/>
          <p:cNvSpPr/>
          <p:nvPr/>
        </p:nvSpPr>
        <p:spPr>
          <a:xfrm>
            <a:off x="4709160" y="1280160"/>
            <a:ext cx="1097280" cy="10972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42A5F5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536192"/>
            <a:ext cx="548640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709160" y="12801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4617720" y="24688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PDF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5824728" y="170992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3" name="Shape 17"/>
          <p:cNvSpPr/>
          <p:nvPr/>
        </p:nvSpPr>
        <p:spPr>
          <a:xfrm>
            <a:off x="6126480" y="1280160"/>
            <a:ext cx="1097280" cy="10972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42A5F5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536192"/>
            <a:ext cx="548640" cy="54864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126480" y="12801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6035040" y="24688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Ticket</a:t>
            </a:r>
            <a:endParaRPr lang="en-US" sz="1100" dirty="0"/>
          </a:p>
        </p:txBody>
      </p:sp>
      <p:sp>
        <p:nvSpPr>
          <p:cNvPr id="27" name="Text 20"/>
          <p:cNvSpPr/>
          <p:nvPr/>
        </p:nvSpPr>
        <p:spPr>
          <a:xfrm>
            <a:off x="7242048" y="170992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1"/>
          <p:cNvSpPr/>
          <p:nvPr/>
        </p:nvSpPr>
        <p:spPr>
          <a:xfrm>
            <a:off x="7543800" y="1280160"/>
            <a:ext cx="1097280" cy="1097280"/>
          </a:xfrm>
          <a:prstGeom prst="ellipse">
            <a:avLst/>
          </a:prstGeom>
          <a:solidFill>
            <a:srgbClr val="1565C0"/>
          </a:solidFill>
          <a:ln w="12700">
            <a:solidFill>
              <a:srgbClr val="42A5F5"/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18120" y="1536192"/>
            <a:ext cx="548640" cy="54864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7543800" y="12801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7452360" y="246888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Verification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D5A"/>
          </a:solidFill>
          <a:ln w="12700">
            <a:solidFill>
              <a:srgbClr val="0D2D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3931920" cy="3886200"/>
          </a:xfrm>
          <a:prstGeom prst="roundRect">
            <a:avLst>
              <a:gd name="adj" fmla="val 2824"/>
            </a:avLst>
          </a:prstGeom>
          <a:solidFill>
            <a:srgbClr val="F4F8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37360" y="100584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Module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148840"/>
            <a:ext cx="356616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85800" y="22128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Register &amp; Login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578608"/>
            <a:ext cx="356616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5800" y="26426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Browse Events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3008376"/>
            <a:ext cx="356616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" y="30723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Search Events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48640" y="3438144"/>
            <a:ext cx="356616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85800" y="35021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Book Tickets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48640" y="3867912"/>
            <a:ext cx="356616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85800" y="3931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Booking History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48640" y="4297680"/>
            <a:ext cx="356616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85800" y="43616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Download Ticket (PDF)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846320" y="914400"/>
            <a:ext cx="3931920" cy="3886200"/>
          </a:xfrm>
          <a:prstGeom prst="roundRect">
            <a:avLst>
              <a:gd name="adj" fmla="val 2824"/>
            </a:avLst>
          </a:prstGeom>
          <a:solidFill>
            <a:srgbClr val="F4F8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005840"/>
            <a:ext cx="594360" cy="59436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98348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Organizer Module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5029200" y="2148840"/>
            <a:ext cx="356616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5166360" y="22128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Create Event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5029200" y="2578608"/>
            <a:ext cx="356616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166360" y="264261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Edit Event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5029200" y="3008376"/>
            <a:ext cx="356616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166360" y="307238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Delete Event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5029200" y="3438144"/>
            <a:ext cx="356616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166360" y="350215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Manage Events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5029200" y="3867912"/>
            <a:ext cx="356616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166360" y="39319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Scan Tickets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5029200" y="4297680"/>
            <a:ext cx="3566160" cy="347472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5166360" y="43616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Verify Attendees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D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Ticket System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1097280"/>
            <a:ext cx="1188720" cy="3200400"/>
          </a:xfrm>
          <a:prstGeom prst="roundRect">
            <a:avLst>
              <a:gd name="adj" fmla="val 7692"/>
            </a:avLst>
          </a:prstGeom>
          <a:solidFill>
            <a:srgbClr val="1565C0">
              <a:alpha val="65000"/>
            </a:srgbClr>
          </a:solidFill>
          <a:ln w="12700">
            <a:solidFill>
              <a:srgbClr val="42A5F5">
                <a:alpha val="5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11480" y="20116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11480" y="2468880"/>
            <a:ext cx="1097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books event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563624" y="2194560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1783080" y="1097280"/>
            <a:ext cx="1188720" cy="3200400"/>
          </a:xfrm>
          <a:prstGeom prst="roundRect">
            <a:avLst>
              <a:gd name="adj" fmla="val 7692"/>
            </a:avLst>
          </a:prstGeom>
          <a:solidFill>
            <a:srgbClr val="1565C0">
              <a:alpha val="65000"/>
            </a:srgbClr>
          </a:solidFill>
          <a:ln w="12700">
            <a:solidFill>
              <a:srgbClr val="42A5F5">
                <a:alpha val="50000"/>
              </a:srgbClr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234440"/>
            <a:ext cx="640080" cy="6400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828800" y="20116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Gen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1828800" y="2468880"/>
            <a:ext cx="1097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QR generated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2980944" y="2194560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3" name="Shape 9"/>
          <p:cNvSpPr/>
          <p:nvPr/>
        </p:nvSpPr>
        <p:spPr>
          <a:xfrm>
            <a:off x="3200400" y="1097280"/>
            <a:ext cx="1188720" cy="3200400"/>
          </a:xfrm>
          <a:prstGeom prst="roundRect">
            <a:avLst>
              <a:gd name="adj" fmla="val 7692"/>
            </a:avLst>
          </a:prstGeom>
          <a:solidFill>
            <a:srgbClr val="1565C0">
              <a:alpha val="65000"/>
            </a:srgbClr>
          </a:solidFill>
          <a:ln w="12700">
            <a:solidFill>
              <a:srgbClr val="42A5F5">
                <a:alpha val="50000"/>
              </a:srgbClr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1234440"/>
            <a:ext cx="640080" cy="6400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246120" y="20116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Ticket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3246120" y="2468880"/>
            <a:ext cx="1097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Puppeteer renders PDF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4398264" y="2194560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18" name="Shape 13"/>
          <p:cNvSpPr/>
          <p:nvPr/>
        </p:nvSpPr>
        <p:spPr>
          <a:xfrm>
            <a:off x="4617720" y="1097280"/>
            <a:ext cx="1188720" cy="3200400"/>
          </a:xfrm>
          <a:prstGeom prst="roundRect">
            <a:avLst>
              <a:gd name="adj" fmla="val 7692"/>
            </a:avLst>
          </a:prstGeom>
          <a:solidFill>
            <a:srgbClr val="1565C0">
              <a:alpha val="65000"/>
            </a:srgbClr>
          </a:solidFill>
          <a:ln w="12700">
            <a:solidFill>
              <a:srgbClr val="42A5F5">
                <a:alpha val="50000"/>
              </a:srgbClr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234440"/>
            <a:ext cx="640080" cy="6400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663440" y="20116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</a:t>
            </a:r>
            <a:endParaRPr lang="en-US" sz="1100" dirty="0"/>
          </a:p>
        </p:txBody>
      </p:sp>
      <p:sp>
        <p:nvSpPr>
          <p:cNvPr id="21" name="Text 15"/>
          <p:cNvSpPr/>
          <p:nvPr/>
        </p:nvSpPr>
        <p:spPr>
          <a:xfrm>
            <a:off x="4663440" y="2468880"/>
            <a:ext cx="1097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downloads ticket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5815584" y="2194560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3" name="Shape 17"/>
          <p:cNvSpPr/>
          <p:nvPr/>
        </p:nvSpPr>
        <p:spPr>
          <a:xfrm>
            <a:off x="6035040" y="1097280"/>
            <a:ext cx="1188720" cy="3200400"/>
          </a:xfrm>
          <a:prstGeom prst="roundRect">
            <a:avLst>
              <a:gd name="adj" fmla="val 7692"/>
            </a:avLst>
          </a:prstGeom>
          <a:solidFill>
            <a:srgbClr val="1565C0">
              <a:alpha val="65000"/>
            </a:srgbClr>
          </a:solidFill>
          <a:ln w="12700">
            <a:solidFill>
              <a:srgbClr val="42A5F5">
                <a:alpha val="50000"/>
              </a:srgbClr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234440"/>
            <a:ext cx="640080" cy="64008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080760" y="20116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6080760" y="2468880"/>
            <a:ext cx="1097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Organizer scans QR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7232904" y="2194560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000" dirty="0"/>
          </a:p>
        </p:txBody>
      </p:sp>
      <p:sp>
        <p:nvSpPr>
          <p:cNvPr id="28" name="Shape 21"/>
          <p:cNvSpPr/>
          <p:nvPr/>
        </p:nvSpPr>
        <p:spPr>
          <a:xfrm>
            <a:off x="7452360" y="1097280"/>
            <a:ext cx="1188720" cy="3200400"/>
          </a:xfrm>
          <a:prstGeom prst="roundRect">
            <a:avLst>
              <a:gd name="adj" fmla="val 7692"/>
            </a:avLst>
          </a:prstGeom>
          <a:solidFill>
            <a:srgbClr val="1565C0">
              <a:alpha val="65000"/>
            </a:srgbClr>
          </a:solidFill>
          <a:ln w="12700">
            <a:solidFill>
              <a:srgbClr val="42A5F5">
                <a:alpha val="50000"/>
              </a:srgbClr>
            </a:solidFill>
            <a:prstDash val="solid"/>
          </a:ln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6680" y="1234440"/>
            <a:ext cx="640080" cy="64008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7498080" y="201168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</a:t>
            </a:r>
            <a:endParaRPr lang="en-US" sz="1100" dirty="0"/>
          </a:p>
        </p:txBody>
      </p:sp>
      <p:sp>
        <p:nvSpPr>
          <p:cNvPr id="31" name="Text 23"/>
          <p:cNvSpPr/>
          <p:nvPr/>
        </p:nvSpPr>
        <p:spPr>
          <a:xfrm>
            <a:off x="7498080" y="2468880"/>
            <a:ext cx="10972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confirms entry</a:t>
            </a:r>
            <a:endParaRPr lang="en-US" sz="1000" dirty="0"/>
          </a:p>
        </p:txBody>
      </p:sp>
      <p:sp>
        <p:nvSpPr>
          <p:cNvPr id="32" name="Text 24"/>
          <p:cNvSpPr/>
          <p:nvPr/>
        </p:nvSpPr>
        <p:spPr>
          <a:xfrm>
            <a:off x="365760" y="45262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Libraries: qrcode · Puppeteer (headless Chrome)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D5A"/>
          </a:solidFill>
          <a:ln w="12700">
            <a:solidFill>
              <a:srgbClr val="0D2D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1554480" cy="1645920"/>
          </a:xfrm>
          <a:prstGeom prst="roundRect">
            <a:avLst>
              <a:gd name="adj" fmla="val 7059"/>
            </a:avLst>
          </a:prstGeom>
          <a:solidFill>
            <a:srgbClr val="0D2D5A"/>
          </a:solidFill>
          <a:ln w="12700">
            <a:solidFill>
              <a:srgbClr val="0D2D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3444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19659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Auth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039112" y="960120"/>
            <a:ext cx="1554480" cy="1645920"/>
          </a:xfrm>
          <a:prstGeom prst="roundRect">
            <a:avLst>
              <a:gd name="adj" fmla="val 7059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6312" y="1234440"/>
            <a:ext cx="640080" cy="6400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084832" y="19659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Discovery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758184" y="960120"/>
            <a:ext cx="1554480" cy="1645920"/>
          </a:xfrm>
          <a:prstGeom prst="roundRect">
            <a:avLst>
              <a:gd name="adj" fmla="val 7059"/>
            </a:avLst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5384" y="1234440"/>
            <a:ext cx="640080" cy="64008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803904" y="19659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Ticket Booking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5477256" y="960120"/>
            <a:ext cx="1554480" cy="1645920"/>
          </a:xfrm>
          <a:prstGeom prst="roundRect">
            <a:avLst>
              <a:gd name="adj" fmla="val 7059"/>
            </a:avLst>
          </a:prstGeom>
          <a:solidFill>
            <a:srgbClr val="01579B"/>
          </a:solidFill>
          <a:ln w="12700">
            <a:solidFill>
              <a:srgbClr val="01579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34456" y="1234440"/>
            <a:ext cx="640080" cy="64008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5522976" y="19659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Organizer Dashboard</a:t>
            </a:r>
            <a:endParaRPr lang="en-US" sz="1000" dirty="0"/>
          </a:p>
        </p:txBody>
      </p:sp>
      <p:sp>
        <p:nvSpPr>
          <p:cNvPr id="16" name="Shape 10"/>
          <p:cNvSpPr/>
          <p:nvPr/>
        </p:nvSpPr>
        <p:spPr>
          <a:xfrm>
            <a:off x="7196328" y="960120"/>
            <a:ext cx="1554480" cy="1645920"/>
          </a:xfrm>
          <a:prstGeom prst="roundRect">
            <a:avLst>
              <a:gd name="adj" fmla="val 7059"/>
            </a:avLst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3528" y="1234440"/>
            <a:ext cx="640080" cy="64008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242048" y="19659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History</a:t>
            </a:r>
            <a:endParaRPr lang="en-US" sz="1000" dirty="0"/>
          </a:p>
        </p:txBody>
      </p:sp>
      <p:sp>
        <p:nvSpPr>
          <p:cNvPr id="19" name="Shape 12"/>
          <p:cNvSpPr/>
          <p:nvPr/>
        </p:nvSpPr>
        <p:spPr>
          <a:xfrm>
            <a:off x="320040" y="2880360"/>
            <a:ext cx="1554480" cy="1645920"/>
          </a:xfrm>
          <a:prstGeom prst="roundRect">
            <a:avLst>
              <a:gd name="adj" fmla="val 7059"/>
            </a:avLst>
          </a:prstGeom>
          <a:solidFill>
            <a:srgbClr val="0D2D5A"/>
          </a:solidFill>
          <a:ln w="12700">
            <a:solidFill>
              <a:srgbClr val="0D2D5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3154680"/>
            <a:ext cx="640080" cy="64008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365760" y="38862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</a:t>
            </a:r>
            <a:endParaRPr lang="en-US" sz="1000" dirty="0"/>
          </a:p>
        </p:txBody>
      </p:sp>
      <p:sp>
        <p:nvSpPr>
          <p:cNvPr id="22" name="Shape 14"/>
          <p:cNvSpPr/>
          <p:nvPr/>
        </p:nvSpPr>
        <p:spPr>
          <a:xfrm>
            <a:off x="2039112" y="2880360"/>
            <a:ext cx="1554480" cy="1645920"/>
          </a:xfrm>
          <a:prstGeom prst="roundRect">
            <a:avLst>
              <a:gd name="adj" fmla="val 7059"/>
            </a:avLst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96312" y="3154680"/>
            <a:ext cx="640080" cy="640080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2084832" y="38862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Ticket</a:t>
            </a:r>
            <a:endParaRPr lang="en-US" sz="1000" dirty="0"/>
          </a:p>
        </p:txBody>
      </p:sp>
      <p:sp>
        <p:nvSpPr>
          <p:cNvPr id="25" name="Shape 16"/>
          <p:cNvSpPr/>
          <p:nvPr/>
        </p:nvSpPr>
        <p:spPr>
          <a:xfrm>
            <a:off x="3758184" y="2880360"/>
            <a:ext cx="1554480" cy="1645920"/>
          </a:xfrm>
          <a:prstGeom prst="roundRect">
            <a:avLst>
              <a:gd name="adj" fmla="val 7059"/>
            </a:avLst>
          </a:prstGeom>
          <a:solidFill>
            <a:srgbClr val="0277BD"/>
          </a:solidFill>
          <a:ln w="12700">
            <a:solidFill>
              <a:srgbClr val="0277BD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2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15384" y="3154680"/>
            <a:ext cx="640080" cy="640080"/>
          </a:xfrm>
          <a:prstGeom prst="rect">
            <a:avLst/>
          </a:prstGeom>
        </p:spPr>
      </p:pic>
      <p:sp>
        <p:nvSpPr>
          <p:cNvPr id="27" name="Text 17"/>
          <p:cNvSpPr/>
          <p:nvPr/>
        </p:nvSpPr>
        <p:spPr>
          <a:xfrm>
            <a:off x="3803904" y="38862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Verify</a:t>
            </a:r>
            <a:endParaRPr lang="en-US" sz="1000" dirty="0"/>
          </a:p>
        </p:txBody>
      </p:sp>
      <p:sp>
        <p:nvSpPr>
          <p:cNvPr id="28" name="Shape 18"/>
          <p:cNvSpPr/>
          <p:nvPr/>
        </p:nvSpPr>
        <p:spPr>
          <a:xfrm>
            <a:off x="5477256" y="2880360"/>
            <a:ext cx="1554480" cy="1645920"/>
          </a:xfrm>
          <a:prstGeom prst="roundRect">
            <a:avLst>
              <a:gd name="adj" fmla="val 7059"/>
            </a:avLst>
          </a:prstGeom>
          <a:solidFill>
            <a:srgbClr val="01579B"/>
          </a:solidFill>
          <a:ln w="12700">
            <a:solidFill>
              <a:srgbClr val="01579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2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34456" y="3154680"/>
            <a:ext cx="640080" cy="640080"/>
          </a:xfrm>
          <a:prstGeom prst="rect">
            <a:avLst/>
          </a:prstGeom>
        </p:spPr>
      </p:pic>
      <p:sp>
        <p:nvSpPr>
          <p:cNvPr id="30" name="Text 19"/>
          <p:cNvSpPr/>
          <p:nvPr/>
        </p:nvSpPr>
        <p:spPr>
          <a:xfrm>
            <a:off x="5522976" y="38862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UI</a:t>
            </a:r>
            <a:endParaRPr lang="en-US" sz="1000" dirty="0"/>
          </a:p>
        </p:txBody>
      </p:sp>
      <p:sp>
        <p:nvSpPr>
          <p:cNvPr id="31" name="Shape 20"/>
          <p:cNvSpPr/>
          <p:nvPr/>
        </p:nvSpPr>
        <p:spPr>
          <a:xfrm>
            <a:off x="7196328" y="2880360"/>
            <a:ext cx="1554480" cy="1645920"/>
          </a:xfrm>
          <a:prstGeom prst="roundRect">
            <a:avLst>
              <a:gd name="adj" fmla="val 7059"/>
            </a:avLst>
          </a:prstGeom>
          <a:solidFill>
            <a:srgbClr val="0288D1"/>
          </a:solidFill>
          <a:ln w="12700">
            <a:solidFill>
              <a:srgbClr val="0288D1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32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53528" y="3154680"/>
            <a:ext cx="640080" cy="640080"/>
          </a:xfrm>
          <a:prstGeom prst="rect">
            <a:avLst/>
          </a:prstGeom>
        </p:spPr>
      </p:pic>
      <p:sp>
        <p:nvSpPr>
          <p:cNvPr id="33" name="Text 21"/>
          <p:cNvSpPr/>
          <p:nvPr/>
        </p:nvSpPr>
        <p:spPr>
          <a:xfrm>
            <a:off x="7242048" y="38862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D5A"/>
          </a:solidFill>
          <a:ln w="12700">
            <a:solidFill>
              <a:srgbClr val="0D2D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 Structure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3931920" cy="3840480"/>
          </a:xfrm>
          <a:prstGeom prst="roundRect">
            <a:avLst>
              <a:gd name="adj" fmla="val 2857"/>
            </a:avLst>
          </a:prstGeom>
          <a:solidFill>
            <a:srgbClr val="F4F8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backend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5087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📂 controllers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📂 models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5146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📂 routes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0175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📂 middlewares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520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📂 utils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40233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📂 db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960120"/>
            <a:ext cx="3931920" cy="3840480"/>
          </a:xfrm>
          <a:prstGeom prst="roundRect">
            <a:avLst>
              <a:gd name="adj" fmla="val 2857"/>
            </a:avLst>
          </a:prstGeom>
          <a:solidFill>
            <a:srgbClr val="F4F8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0" y="1051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frontend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0" y="15087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📂 api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20116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📂 assets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25146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📂 context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30175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📂 pages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3520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📂 routes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2D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Faced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1565C0">
              <a:alpha val="70000"/>
            </a:srgbClr>
          </a:solidFill>
          <a:ln w="12700">
            <a:solidFill>
              <a:srgbClr val="42A5F5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100584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926080" y="100584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secure token refresh, protected routes, and role-based access across both frontend and backend.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764792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1565C0">
              <a:alpha val="70000"/>
            </a:srgbClr>
          </a:solidFill>
          <a:ln w="12700">
            <a:solidFill>
              <a:srgbClr val="42A5F5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810512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 Relationships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926080" y="1810512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ObjectId references between Users, Events, Bookings, and Tickets while avoiding circular dependencies.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569464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1565C0">
              <a:alpha val="70000"/>
            </a:srgbClr>
          </a:solidFill>
          <a:ln w="12700">
            <a:solidFill>
              <a:srgbClr val="42A5F5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615184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 Generation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26080" y="2615184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unique, scannable QR codes and embedding them reliably in dynamically generated PDF documents.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3374136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1565C0">
              <a:alpha val="70000"/>
            </a:srgbClr>
          </a:solidFill>
          <a:ln w="12700">
            <a:solidFill>
              <a:srgbClr val="42A5F5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419856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Ticket Generation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926080" y="3419856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Puppeteer (headless Chrome) to render styled HTML into high-quality PDF tickets with QR code embedded.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4178808"/>
            <a:ext cx="8412480" cy="685800"/>
          </a:xfrm>
          <a:prstGeom prst="roundRect">
            <a:avLst>
              <a:gd name="adj" fmla="val 13333"/>
            </a:avLst>
          </a:prstGeom>
          <a:solidFill>
            <a:srgbClr val="1565C0">
              <a:alpha val="70000"/>
            </a:srgbClr>
          </a:solidFill>
          <a:ln w="12700">
            <a:solidFill>
              <a:srgbClr val="42A5F5">
                <a:alpha val="4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4224528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Integration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26080" y="4224528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Synchronizing React frontend state with Express API responses, handling loading states and error boundaries.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D5A"/>
          </a:solidFill>
          <a:ln w="12700">
            <a:solidFill>
              <a:srgbClr val="0D2D5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Improvements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1188720"/>
            <a:ext cx="594360" cy="594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18745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Payment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11480" y="21945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/ PayPal integration for paid events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154680" y="100584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9080" y="1188720"/>
            <a:ext cx="594360" cy="5943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46120" y="18745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Notifications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3246120" y="21945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confirmations &amp; reminders via email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5989320" y="100584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720" y="1188720"/>
            <a:ext cx="594360" cy="5943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080760" y="18745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6080760" y="21945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cross-platform mobile application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320040" y="283464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440" y="3017520"/>
            <a:ext cx="594360" cy="5943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11480" y="37033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411480" y="40233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performance charts &amp; attendee insights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154680" y="2834640"/>
            <a:ext cx="26060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BBDEFB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9080" y="3017520"/>
            <a:ext cx="594360" cy="5943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3246120" y="3703320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2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Multi-language</a:t>
            </a:r>
            <a:endParaRPr lang="en-US" sz="1200" dirty="0"/>
          </a:p>
        </p:txBody>
      </p:sp>
      <p:sp>
        <p:nvSpPr>
          <p:cNvPr id="23" name="Text 16"/>
          <p:cNvSpPr/>
          <p:nvPr/>
        </p:nvSpPr>
        <p:spPr>
          <a:xfrm>
            <a:off x="3246120" y="40233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Internationalization (i18n) support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320040" y="4663440"/>
            <a:ext cx="8503920" cy="347472"/>
          </a:xfrm>
          <a:prstGeom prst="roundRect">
            <a:avLst>
              <a:gd name="adj" fmla="val 21053"/>
            </a:avLst>
          </a:prstGeom>
          <a:solidFill>
            <a:srgbClr val="0D2D5A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457200" y="46908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github.com/ItcProjects-R4/GHR4_SWD2_S1_PROJECT3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2D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0" y="914400"/>
            <a:ext cx="2194560" cy="21945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32461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4200" dirty="0"/>
          </a:p>
        </p:txBody>
      </p:sp>
      <p:sp>
        <p:nvSpPr>
          <p:cNvPr id="4" name="Text 1"/>
          <p:cNvSpPr/>
          <p:nvPr/>
        </p:nvSpPr>
        <p:spPr>
          <a:xfrm>
            <a:off x="457200" y="3977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explore EventBooking in action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286000" y="4526280"/>
            <a:ext cx="4572000" cy="384048"/>
          </a:xfrm>
          <a:prstGeom prst="roundRect">
            <a:avLst>
              <a:gd name="adj" fmla="val 23810"/>
            </a:avLst>
          </a:prstGeom>
          <a:solidFill>
            <a:srgbClr val="1565C0">
              <a:alpha val="50000"/>
            </a:srgbClr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286000" y="454456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github.com/ItcProjects-R4/GHR4_SWD2_S1_PROJECT3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2D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645920"/>
            <a:ext cx="5029200" cy="5029200"/>
          </a:xfrm>
          <a:prstGeom prst="ellipse">
            <a:avLst/>
          </a:prstGeom>
          <a:solidFill>
            <a:srgbClr val="1565C0">
              <a:alpha val="20000"/>
            </a:srgbClr>
          </a:solidFill>
          <a:ln w="12700">
            <a:solidFill>
              <a:srgbClr val="1565C0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926080"/>
            <a:ext cx="3657600" cy="3657600"/>
          </a:xfrm>
          <a:prstGeom prst="ellipse">
            <a:avLst/>
          </a:prstGeom>
          <a:solidFill>
            <a:srgbClr val="42A5F5">
              <a:alpha val="18000"/>
            </a:srgbClr>
          </a:solidFill>
          <a:ln w="12700">
            <a:solidFill>
              <a:srgbClr val="42A5F5">
                <a:alpha val="1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BD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EventBooking is a complete MERN Stack Event Management System that demonstrates: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Full-Stack Development with React, Node.js, Express &amp; MongoDB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JWT Authentication and Role-based Access Control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CRUD Operations and RESTful API Design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063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QR Code Verification &amp; Puppeteer PDF Ticket Generation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520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2A5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Responsive, Modern User Interface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0" y="4297680"/>
            <a:ext cx="9144000" cy="8458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315968"/>
            <a:ext cx="8229600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Questions?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EventBooking — Graduation Project Presentation</dc:title>
  <dc:subject>PptxGenJS Presentation</dc:subject>
  <dc:creator>PptxGenJS</dc:creator>
  <cp:lastModifiedBy>PptxGenJS</cp:lastModifiedBy>
  <cp:revision>1</cp:revision>
  <dcterms:created xsi:type="dcterms:W3CDTF">2026-06-26T03:36:39Z</dcterms:created>
  <dcterms:modified xsi:type="dcterms:W3CDTF">2026-06-26T03:36:39Z</dcterms:modified>
</cp:coreProperties>
</file>